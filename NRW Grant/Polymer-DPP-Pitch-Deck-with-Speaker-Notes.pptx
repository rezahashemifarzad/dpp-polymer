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End-of-Year Account Growth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Manufacturer Accounts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25</c:v>
                </c:pt>
                <c:pt idx="2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Auditor Seats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12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[0:20]</a:t>
            </a:r>
          </a:p>
          <a:p>
            <a:r>
              <a:t>Good [morning/afternoon] — I'm Reza, founder of Polymer.DPP. In one sentence: we're the Digital Product Passport infrastructure for Europe's polymer industry — the system that turns an incoming EU compliance mandate into a verifiable trust asset, instead of a spreadsheet nobody trusts.</a:t>
            </a:r>
          </a:p>
          <a:p/>
          <a:p>
            <a:r>
              <a:t>And I want to say this up front, because it sets up everything that follows: this is not a concept or a mockup. It's a live product, today, at dpp-polymer.vercel.app.</a:t>
            </a:r>
          </a:p>
          <a:p/>
          <a:p>
            <a:r>
              <a:t>TRANSITION: short pause, then "Let me show you the problem this solves." -&gt;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[0:45]</a:t>
            </a:r>
          </a:p>
          <a:p>
            <a:r>
              <a:t>Here's the shift happening right now: sustainability claims are becoming a legal requirement — not a marketing choice. Three EU rules — the Ecodesign for Sustainable Products Regulation, the Packaging and Packaging Waste Regulation, and the Green Claims Directive — turn "trust us, our resin is 40% recycled" into a compliance obligation with real legal exposure attached.</a:t>
            </a:r>
          </a:p>
          <a:p/>
          <a:p>
            <a:r>
              <a:t>That creates four specific operational problems. One: mass-balance recycled content has to be tracked batch by batch, not estimated at the product-line level. Two: certifications expire on a schedule, and somebody has to catch that before they lapse. Three: a verified carbon number has to be provably distinct from a marketing estimate. And four: every claim has to be QR-scannable, GS1-Digital-Link compliant, by the time enforcement starts.</a:t>
            </a:r>
          </a:p>
          <a:p/>
          <a:p>
            <a:r>
              <a:t>And here's the part that matters for this room: most mid-sized polymer processors — the Mittelstand backbone of NRW's chemical and plastics cluster — have neither the software capacity nor the regulatory staff to build this themselves.</a:t>
            </a:r>
          </a:p>
          <a:p/>
          <a:p>
            <a:r>
              <a:t>TRANSITION: "So — what did we build to solve that?" -&gt;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[0:45]</a:t>
            </a:r>
          </a:p>
          <a:p>
            <a:r>
              <a:t>This is Polymer.DPP — a working, deployed SaaS platform. Not a concept, not a prototype. Deployed, today.</a:t>
            </a:r>
          </a:p>
          <a:p/>
          <a:p>
            <a:r>
              <a:t>Five things it does: industrial-grade material data capture (MFI, density, tensile strength, PCR content, carbon footprint — exact decimals, zero floating-point drift); a multi-party trust workflow (manufacturers submit, independently credentialed auditors verify or reject); cryptographic immutability (every batch SHA-256 sealed, written into an append-only hash-chained ledger); consumer/auditor-facing transparency (GS1 Digital Link QR resolving to a public passport, verified claims only); and regulatory-adjacent analytics computed automatically (Sustainability Readiness Index, PPWR 2030/2040 tracking, supplier ranking).</a:t>
            </a:r>
          </a:p>
          <a:p/>
          <a:p>
            <a:r>
              <a:t>TRANSITION: "Let me show you how that actually flows, end to end." -&gt;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[0:35]</a:t>
            </a:r>
          </a:p>
          <a:p>
            <a:r>
              <a:t>It's a single verified record moving through four stages. Manufacturer submits batch data (MFI, density, PCR %, footprint). Independent, individually credentialed auditor verifies certifications and claims. Record is sealed — SHA-256, append-only hash-chained ledger. Then it's accessible — GS1 QR scan or Buyer API — only verified data ever shown.</a:t>
            </a:r>
          </a:p>
          <a:p/>
          <a:p>
            <a:r>
              <a:t>Underline this: filtering happens server-side. An unverified claim isn't just hidden in the UI — it's never even transmitted to a public request.</a:t>
            </a:r>
          </a:p>
          <a:p/>
          <a:p>
            <a:r>
              <a:t>TRANSITION: "That's the workflow. Now — why you can trust the plumbing underneath it." -&gt;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[0:35]</a:t>
            </a:r>
          </a:p>
          <a:p>
            <a:r>
              <a:t>Four numbers for technical diligence: SHA-256 (every batch record cryptographically sealed). Zero (zero floating-point rounding drift on regulatory numeric fields — exact decimal types, not native floats). Three (three independently session-authenticated roles: admin, auditor, buyer). GS1 (Digital-Link-compliant QR on every issued passport).</a:t>
            </a:r>
          </a:p>
          <a:p/>
          <a:p>
            <a:r>
              <a:t>Say plainly: our own technical documentation names what's still planned — a first-class batch-weight field, and a formal third-party security review. Precise about live vs. next, not oversold.</a:t>
            </a:r>
          </a:p>
          <a:p/>
          <a:p>
            <a:r>
              <a:t>TRANSITION: "So the deadline this solves for isn't abstract — here's why it's urgent, and why NRW specifically." -&gt;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[0:35]</a:t>
            </a:r>
          </a:p>
          <a:p>
            <a:r>
              <a:t>Two things converging — the timing is the pitch. Why Now: ESPR's delegated acts expected to bring plastics/packaging into an early compliance wave; PPWR's 2030 recycled-content thresholds are a hard, published deadline; the Green Claims Directive targets unsubstantiated environmental claims directly.</a:t>
            </a:r>
          </a:p>
          <a:p/>
          <a:p>
            <a:r>
              <a:t>Why NRW: one of Europe's densest chemical clusters (Rhineland corridor, Ruhr-area recycling); strong Mittelstand compounding sector facing this deadline today; RWTH Aachen &amp; Fraunhofer as a world-class materials-science anchor alongside it.</a:t>
            </a:r>
          </a:p>
          <a:p/>
          <a:p>
            <a:r>
              <a:t>TRANSITION: "So who exactly is the customer inside that cluster?" -&gt;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[0:30]</a:t>
            </a:r>
          </a:p>
          <a:p>
            <a:r>
              <a:t>Three-sided market, anchored in NRW. Primary: polymer compounders &amp; recyclers, 50-500 employees, NRW/DACH, producing PCR/PIR or bio-based grades. Secondary: B2B buyers (OEMs, converters) needing verified supplier data for their own CSRD/ESPR reporting. Tertiary: independent auditors using the platform as their verification tool of record.</a:t>
            </a:r>
          </a:p>
          <a:p/>
          <a:p>
            <a:r>
              <a:t>Expansion path is built into the regulation itself: NRW -&gt; wider DACH chemical cluster -&gt; EU-wide, because ESPR/PPWR are EU law, not German law.</a:t>
            </a:r>
          </a:p>
          <a:p/>
          <a:p>
            <a:r>
              <a:t>TRANSITION: "Given that market, here's how we make money." -&gt;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[0:40]</a:t>
            </a:r>
          </a:p>
          <a:p>
            <a:r>
              <a:t>Five recurring revenue lines, aligned to usage, not one-off fees. Core: tiered manufacturer subscription, priced by batch volume and feature tier. Plus: per-seat Auditor Portal licensing (distinct, professionally liable user class); versioned Buyer API (feeding verified data into CSRD/ERP pipelines); compliance export &amp; certificate services (PDF certs, QR label sheets, audit-ready workbooks); onboarding &amp; data-migration services for larger accounts.</a:t>
            </a:r>
          </a:p>
          <a:p/>
          <a:p>
            <a:r>
              <a:t>Sixth line flagged as optional, not assumed: white-label/multi-tenant licensing — post-MVP expansion option, not a Year 1 assumption. Say this a notch quieter — signals discipline.</a:t>
            </a:r>
          </a:p>
          <a:p/>
          <a:p>
            <a:r>
              <a:t>TRANSITION: "Here's the phased plan for getting there." -&gt;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[0:35]</a:t>
            </a:r>
          </a:p>
          <a:p>
            <a:r>
              <a:t>Four phases. Phase 0, Foundation — COMPLETE. Core platform live today: passport data model, cryptographic ledger, GS1 QR engine, certification workflow, auditor &amp; buyer portals, ESG analytics. Shipped, not a plan.</a:t>
            </a:r>
          </a:p>
          <a:p/>
          <a:p>
            <a:r>
              <a:t>Phase 1 (Months 1-6): pilot validation — 3-5 pilot manufacturers, initial auditor network, RWTH Aachen advisory relationship, security hardening, first grant filing.</a:t>
            </a:r>
          </a:p>
          <a:p/>
          <a:p>
            <a:r>
              <a:t>Phase 2 (Months 7-18): regional scale-up — paid conversions, Buyer API commercially live, batch-weight field shipped, auditor network formalized.</a:t>
            </a:r>
          </a:p>
          <a:p/>
          <a:p>
            <a:r>
              <a:t>Phase 3 (Months 19-36): DACH/EU expansion — wider DACH sales motion, white-label evaluation, follow-on research grant, EU market entry as ESPR applies bloc-wide.</a:t>
            </a:r>
          </a:p>
          <a:p/>
          <a:p>
            <a:r>
              <a:t>TRANSITION: "What does that trajectory look like in numbers? Big caveat first." -&gt;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[0:30]</a:t>
            </a:r>
          </a:p>
          <a:p>
            <a:r>
              <a:t>Be direct before any number: ILLUSTRATIVE, NOT AUDITED. Placeholders sized to a plausible trajectory — not signed contracts or committed pricing.</a:t>
            </a:r>
          </a:p>
          <a:p/>
          <a:p>
            <a:r>
              <a:t>Shape of the model: Year 1 — 5-8 manufacturer accounts, 3-5 auditor seats. Year 2 — 20-30 accounts, 10-15 auditors. Year 3 — 50-80 accounts, 25-35 auditors. Chart plots the midpoint of each range.</a:t>
            </a:r>
          </a:p>
          <a:p/>
          <a:p>
            <a:r>
              <a:t>Showing the structure of the model, not a forecast to believe today — replaced with a real bottom-up number the moment there's signed pilot pricing.</a:t>
            </a:r>
          </a:p>
          <a:p/>
          <a:p>
            <a:r>
              <a:t>TRANSITION: "What derisks that trajectory is the ecosystem we're building in." -&gt;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[0:25]</a:t>
            </a:r>
          </a:p>
          <a:p>
            <a:r>
              <a:t>Three things about being built in NRW specifically. RWTH Aachen Center for Circular Economy advisory relationship — be precise: a synergy being formalized, NOT an existing named partnership yet — would give independent technical validation of methodology. RWTH already runs active circular-economy research with major regional chemical players — real credibility with the same customer base being targeted. Proximity to RWTH's materials-science graduate programs supports domain-expertise pipeline and a plausible Year 2+ joint research application.</a:t>
            </a:r>
          </a:p>
          <a:p/>
          <a:p>
            <a:r>
              <a:t>Keep the "not yet an existing named partnership" phrasing exact — reads as credibility, not a gap.</a:t>
            </a:r>
          </a:p>
          <a:p/>
          <a:p>
            <a:r>
              <a:t>TRANSITION: "Put that ecosystem and the technical depth together, and here's why we win against the alternative." -&gt;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[0:30]</a:t>
            </a:r>
          </a:p>
          <a:p>
            <a:r>
              <a:t>Honest alternative isn't another DPP startup — it's a generic ERP/PLM vendor bolting on a compliance module. Why that doesn't hold: not built around DPP-specific data models, no cryptographic tamper-evidence layer, no native GS1 Digital Link QR resolution, no credentialed multi-party verification workflow.</a:t>
            </a:r>
          </a:p>
          <a:p/>
          <a:p>
            <a:r>
              <a:t>Built all four in from day one: purpose-built schema (MFI, PCR/PIR, mass balance, LCA); SHA-256 sealed hash-chained append-only ledger; native GS1 Digital Link QR on every passport; individually credentialed auditor verification workflow. Not a feature checklist — the difference between compliance bolted on and compliance built in.</a:t>
            </a:r>
          </a:p>
          <a:p/>
          <a:p>
            <a:r>
              <a:t>TRANSITION: "So here's specifically what we're asking for." -&gt;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[0:40]</a:t>
            </a:r>
          </a:p>
          <a:p>
            <a:r>
              <a:t>Four concrete asks. One: pilot manufacturer customers — 3-5 accounts spanning a compounder, a recycler, and a converter. Two: regional grant co-financing — NRW.BANK.Invest Zukunft, EFRE.NRW, Ressource.NRW — bridging pilot-phase costs ahead of paid revenue. Three: RWTH Aachen advisory partnership — converting the ecosystem synergy into a named, citable relationship. Four: capital &amp; partners for scale-up — funding the transition from validated pilot to regional-scale paid infrastructure.</a:t>
            </a:r>
          </a:p>
          <a:p/>
          <a:p>
            <a:r>
              <a:t>"If you're in a position to help with any one of those four, that's the conversation I want to have after this."</a:t>
            </a:r>
          </a:p>
          <a:p/>
          <a:p>
            <a:r>
              <a:t>DELIVERY NOTE: look up at the room for this slide, not at the screen — highest-stakes ask in the deck.</a:t>
            </a:r>
          </a:p>
          <a:p/>
          <a:p>
            <a:r>
              <a:t>TRANSITION: "Let me close." -&gt;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[0:20]</a:t>
            </a:r>
          </a:p>
          <a:p>
            <a:r>
              <a:t>Let's build NRW's Digital Product Passport infrastructure together. The product is live — dpp-polymer.vercel.app — you can go look at it today, not next quarter. I'm Reza Hashemi Farzad, reza.h.farzad@gmail.com. Thank you.</a:t>
            </a:r>
          </a:p>
          <a:p/>
          <a:p>
            <a:r>
              <a:t>DELIVERY NOTE: hold this slide, don't advance — it's the Q&amp;A backdrop.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POLYMER.DPP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Product Passport Infrastructure for Europe's Polymer Industry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EU compliance into a verifiable trust asset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/home/claude/pitch-deck/icons/smartphon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30576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 ·  dpp-polymer.vercel.app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ESPR 2026 Enterprise Circular Economy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claims are becoming a legal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— not a marketing choice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EU's Ecodesign for Sustainable Products Regulation (ESPR), the Packaging and Packaging Waste Regulation (PPWR), and the Green Claims Directive turn “trust us” sustainability marketing into a compliance obligation with legal exposure attached.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/home/claude/pitch-deck/icons/link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2848356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274320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Batch-by-batch chain of custody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300837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Mass-balance recycled/bio-based content (ISCC PLUS, REDcert2) must be tracked per physical batch, not estimated at the product-line level.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27889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1" descr="/home/claude/pitch-deck/icons/checkcircle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84835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22008" y="274320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expire on a schedule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922008" y="300837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certificate needs re-verification before it lapses — a manual tracking burden across dozens of active batches.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4" name="Image 2" descr="/home/claude/pitch-deck/icons/eye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4082796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98448" y="397764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vs. marketing must be distinguishable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298448" y="424281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carbon footprint figure has to be provably distinct from an unverified estimate, not blended into one number.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63640" y="40233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8" name="Image 3" descr="/home/claude/pitch-deck/icons/smartphone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4082796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22008" y="397764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must be QR-scannable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922008" y="424281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be exposed through a GS1 Digital Link-compliant passport by the time ESPR's delegated acts apply.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544068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mid-sized polymer processors — the Mittelstand backbone of NRW's chemical and plastics cluster — have neither the software capacity nor the regulatory staff to build this themselves.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deployed SaaS platform — not a concept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/home/claude/pitch-deck/icons/databas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979676"/>
            <a:ext cx="338328" cy="338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87452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Industrial-grade material data capture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213969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1133 MFI, density, tensile strength, PCR/PIR %, bio-based content, and LCA carbon footprint — stored at exact decimal precision, no floating-point drift.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9" name="Image 1" descr="/home/claude/pitch-deck/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8483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8448" y="274320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Multi-party trust workflow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98448" y="300837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submit batch data; independently credentialed auditors formally verify or reject it before it's ever shown as fact.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2" descr="/home/claude/pitch-deck/icons/shield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71703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61188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immutability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98448" y="387705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record is SHA-256 sealed; every state change is written to an append-only, hash-chained audit ledger.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7" name="Image 3" descr="/home/claude/pitch-deck/icons/smartphone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458571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98448" y="448056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 and auditor-facing transparency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98448" y="474573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GS1 Digital Link QR code on every batch resolves to a public passport showing only verified claims.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3949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1" name="Image 4" descr="/home/claude/pitch-deck/icons/piechart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545439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98448" y="534924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Regulatory-adjacent analytics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298448" y="561441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Readiness Index, PPWR 2030/2040 target tracking, and supplier performance ranking — compliance as a byproduct of normal use.</a:t>
            </a:r>
            <a:endParaRPr lang="en-US" sz="1150" dirty="0"/>
          </a:p>
        </p:txBody>
      </p:sp>
      <p:sp>
        <p:nvSpPr>
          <p:cNvPr id="24" name="Text 1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verified record, from batch creation to public proof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31546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/home/claude/pitch-deck/icons/databas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110" y="3237890"/>
            <a:ext cx="473659" cy="4736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977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434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batch data — MFI, density,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%, footprint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971800" y="3611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474720" y="283464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4320540" y="31546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2" name="Image 1" descr="/home/claude/pitch-deck/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750" y="323789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11880" y="3977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Auditor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4434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certifications &amp; claims,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credentialed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806440" y="3611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6309360" y="283464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</p:spPr>
      </p:sp>
      <p:sp>
        <p:nvSpPr>
          <p:cNvPr id="17" name="Shape 13"/>
          <p:cNvSpPr/>
          <p:nvPr/>
        </p:nvSpPr>
        <p:spPr>
          <a:xfrm>
            <a:off x="7155180" y="3154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pitch-deck/icons/shield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0" y="3237890"/>
            <a:ext cx="473659" cy="47365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3977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&amp; Hash-Chained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4434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record inside 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ledger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8641080" y="3611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Shape 17"/>
          <p:cNvSpPr/>
          <p:nvPr/>
        </p:nvSpPr>
        <p:spPr>
          <a:xfrm>
            <a:off x="9144000" y="283464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/>
        </p:spPr>
      </p:sp>
      <p:sp>
        <p:nvSpPr>
          <p:cNvPr id="23" name="Shape 18"/>
          <p:cNvSpPr/>
          <p:nvPr/>
        </p:nvSpPr>
        <p:spPr>
          <a:xfrm>
            <a:off x="9989820" y="31546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4" name="Image 3" descr="/home/claude/pitch-deck/icons/smartphone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3030" y="3237890"/>
            <a:ext cx="473659" cy="47365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81160" y="3977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Buyer Access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281160" y="4434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 QR scan or Buyer API 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 data shown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filtering means unverified claims are never even transmitted to a public request — not just hidden in the UI.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CREDIBILITY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regulatory and security scrutiny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record 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sealed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21945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1188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429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rounding drift 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numeric fields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429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session-authenticated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— admin, auditor, buyer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0" y="21945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8116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GS1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3429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Link-compliant QR 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issued passport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892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the platform's own technical documentation names what's genuinely still planned — a first-class batch-weight field and a formal third-party security review — so these claims stay honest against the real codebase, not a pitch-deck gloss.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NOW, WHY NRW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compliance deadline measured in years — in the region built to meet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/home/claude/pitch-deck/icons/trendingup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80" y="22599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8892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 delegated acts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expected to bring plastics/packaging into an early compliance wave.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PPWR 2030 recycled-content thresholds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hard, published deadline — not a someday target.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Claims Directive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targets unsubstantiated environmental claims with legal exposure.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itch-deck/icons/mappin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25994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NRW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78892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Europe's densest chemical clusters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Rhineland corridor and Ruhr-area recycling infrastructure.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Mittelstand compounding sector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facing this exact compliance deadline today, not hypothetically.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RWTH Aachen &amp; Fraunhofer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alongside this industrial base as a world-class materials-science research anchor.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three-sided market, anchored in NRW's chemical cluster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671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7" name="Image 0" descr="/home/claude/pitch-deck/icons/databas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2579980"/>
            <a:ext cx="372161" cy="3721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compounders &amp; recyclers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03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50–500 employees, NRW/DACH, producing PCR/PIR or bio-based grades.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21671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25146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1" descr="/home/claude/pitch-deck/icons/link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380" y="257998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buyers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703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 &amp; converters needing verified supplier data for their own CSRD/ESPR reporting.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19659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275320" y="21671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75320" y="25146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9" name="Image 2" descr="/home/claude/pitch-deck/icons/checkcircle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700" y="2579980"/>
            <a:ext cx="372161" cy="37216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7532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auditors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3703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Certification-adjacent providers using the platform as their verification tool of record.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4983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14400" y="5102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path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NRW  ›  wider DACH chemical cluster  ›  EU-wide  —  because ESPR and PPWR are EU regulations, every polymer manufacturer across the EU faces the same deadline.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B2B SaaS revenue, aligned to usage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/home/claude/pitch-deck/icons/briefcas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979676"/>
            <a:ext cx="338328" cy="338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87452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manufacturer subscription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213969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recurring revenue — priced by batch volume and feature tier.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9" name="Image 1" descr="/home/claude/pitch-deck/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75691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8448" y="265176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/ verification seat licensing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98448" y="291693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pricing for the credentialed, professionally liable Auditor Portal.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2" descr="/home/claude/pitch-deck/icons/link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53415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42900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buyer / API access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98448" y="369417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Buyer API feeding verified data into a buyer's own CSRD/ERP pipeline.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7" name="Image 3" descr="/home/claude/pitch-deck/icons/filetex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431139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98448" y="420624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export &amp; certificate services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98448" y="447141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Certificates of Conformity, QR label sheets, audit-ready export workbooks.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1" name="Image 4" descr="/home/claude/pitch-deck/icons/target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508863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98448" y="498348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data migration services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298448" y="524865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fee for larger accounts migrating from spreadsheets or legacy systems.</a:t>
            </a:r>
            <a:endParaRPr lang="en-US" sz="115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/ optional: white-label &amp; multi-tenant licensing for industry associations or certification bodies — a post-MVP expansion option, not a Year 1 assumption.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live MVP to regional DPP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14600" cy="397764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/home/claude/pitch-deck/icons/check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2997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26771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383280"/>
            <a:ext cx="2148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live — passport data model, cryptographic ledger, GS1 QR engine, certification workflow, auditor &amp; buyer portals, ESG analytics.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2011680"/>
            <a:ext cx="2514600" cy="397764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/>
        </p:spPr>
      </p:sp>
      <p:sp>
        <p:nvSpPr>
          <p:cNvPr id="12" name="Shape 9"/>
          <p:cNvSpPr/>
          <p:nvPr/>
        </p:nvSpPr>
        <p:spPr>
          <a:xfrm>
            <a:off x="3566160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pitch-deck/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596" y="229971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60520" y="226771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160520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Validation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3566160" y="3383280"/>
            <a:ext cx="2148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pilot manufacturers, initial auditor network, RWTH Aachen advisory relationship, security hardening, first grant filing.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26480" y="2011680"/>
            <a:ext cx="2514600" cy="397764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/>
        </p:spPr>
      </p:sp>
      <p:sp>
        <p:nvSpPr>
          <p:cNvPr id="19" name="Shape 15"/>
          <p:cNvSpPr/>
          <p:nvPr/>
        </p:nvSpPr>
        <p:spPr>
          <a:xfrm>
            <a:off x="6309360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pitch-deck/icons/trendingup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796" y="2299716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903720" y="226771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6903720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7–18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Scale-Up</a:t>
            </a:r>
            <a:endParaRPr lang="en-US" sz="1550" dirty="0"/>
          </a:p>
        </p:txBody>
      </p:sp>
      <p:sp>
        <p:nvSpPr>
          <p:cNvPr id="24" name="Text 19"/>
          <p:cNvSpPr txBox="1"/>
          <p:nvPr/>
        </p:nvSpPr>
        <p:spPr>
          <a:xfrm>
            <a:off x="6309360" y="3383280"/>
            <a:ext cx="2148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conversions, Buyer API commercially live, batch-weight field shipped, auditor network formalized.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869680" y="2011680"/>
            <a:ext cx="2514600" cy="397764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/>
        </p:spPr>
      </p:sp>
      <p:sp>
        <p:nvSpPr>
          <p:cNvPr id="26" name="Shape 21"/>
          <p:cNvSpPr/>
          <p:nvPr/>
        </p:nvSpPr>
        <p:spPr>
          <a:xfrm>
            <a:off x="9052560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pitch-deck/icons/globe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996" y="2299716"/>
            <a:ext cx="338328" cy="33832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646920" y="226771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9646920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19–36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905256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DACH / EU Expansion</a:t>
            </a:r>
            <a:endParaRPr lang="en-US" sz="1550" dirty="0"/>
          </a:p>
        </p:txBody>
      </p:sp>
      <p:sp>
        <p:nvSpPr>
          <p:cNvPr id="31" name="Text 25"/>
          <p:cNvSpPr txBox="1"/>
          <p:nvPr/>
        </p:nvSpPr>
        <p:spPr>
          <a:xfrm>
            <a:off x="9052560" y="3383280"/>
            <a:ext cx="2148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DACH sales motion, white-label evaluation, follow-on research grant, EU market entry as ESPR applies bloc-wide.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PROJECTIONS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plausible trajectory — not validated numbers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503920" y="45720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03920" y="4572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ILLUSTRATIVE — NOT AUDITED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28800"/>
          <a:ext cx="6766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828800"/>
            <a:ext cx="3886200" cy="3383280"/>
          </a:xfrm>
          <a:prstGeom prst="roundRect">
            <a:avLst>
              <a:gd name="adj" fmla="val 2162"/>
            </a:avLst>
          </a:prstGeom>
          <a:solidFill>
            <a:srgbClr val="F8FA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6384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ranges (from the model)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3774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accounts · 3–5 auditors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accounts · 10–15 auditors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 accounts · 25–35 auditors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8404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values plot the midpoint of each range. All figures are illustrative placeholders sized to a plausible trajectory — not based on signed contracts, audited financials, or committed pricing. Replace with real figures before any binding investor or grant use.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ECOSYSTEM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 NRW, positioned to validate against its research 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/home/claude/pitch-deck/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2071116"/>
            <a:ext cx="338328" cy="338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96596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validation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223113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advisory relationship with RWTH Aachen's Center for Circular Economy (or an equivalent group) — an ecosystem synergy to formalize, not yet an existing named partnership — would give independent confirmation that the platform's methodology reflects current materials-science practice.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9" name="Image 1" descr="/home/claude/pitch-deck/icons/globe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33055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8448" y="320040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credibility by association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1298448" y="346557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RWTH Aachen already runs active circular-economy research partnerships with major regional chemical players, demonstrating the ecosystem's credibility with the same customer base this platform targets.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2" descr="/home/claude/pitch-deck/icons/layers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453999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4434840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&amp; future R&amp;D pipeline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298448" y="4700016"/>
            <a:ext cx="10222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RWTH's materials-science graduate programs supports the platform's domain-expertise needs and a plausible Year 2+ joint research application.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Purpose-built trust infrastructure, not a generic ERP bolt-on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ERP / PLM vendors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around DPP-specific data models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cryptographic tamper-evidence layer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GS1 Digital Link-native QR resolution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credentialed multi-party verification 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194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Polymer DPP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schema — MFI, PCR/PIR, mass balance, LCA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sealed, hash-chained append-only ledger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GS1 Digital Link QR on every issued passport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credentialed auditor verification workflow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Partnering to scale NRW's DPP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/home/claude/pitch-deck/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2345436"/>
            <a:ext cx="338328" cy="338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224028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manufacturer customers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250545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accounts spanning a compounder, a recycler, and a converter — to validate the data model against real production diversity.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22860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9" name="Image 1" descr="/home/claude/pitch-deck/icons/briefcase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34543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22008" y="224028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grant co-financing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6922008" y="250545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NRW.BANK.Invest Zukunft, EFRE.NRW, and Ressource.NRW — bridging pilot-phase costs ahead of paid revenue.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2" descr="/home/claude/pitch-deck/icons/award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408279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97764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RWTH Aachen advisory partnership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298448" y="424281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the Center for Circular Economy ecosystem synergy into a named, citable relationship.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63640" y="40233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7" name="Image 3" descr="/home/claude/pitch-deck/icons/targe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408279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22008" y="397764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&amp; partners for scale-up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6922008" y="424281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the transition from validated pilot to regional-scale paid infrastructure.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POLYMER.DPP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POLYMER.DPP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NRW's Digital Product Passport infrastructure together.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29768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44805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dpp-polymer.vercel.app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0749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Reza Hashemi Farzad  ·  reza.h.farzad@gmail.com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8" name="Image 0" descr="/home/claude/pitch-deck/icons/smartphon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442923"/>
            <a:ext cx="405994" cy="4059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2026-08-30T18:03:29Z</dcterms:created>
  <dcterms:modified xsi:type="dcterms:W3CDTF">2026-08-30T18:03:29Z</dcterms:modified>
</cp:coreProperties>
</file>